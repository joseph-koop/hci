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hunk Five" charset="1" panose="00000500000000000000"/>
      <p:regular r:id="rId18"/>
    </p:embeddedFont>
    <p:embeddedFont>
      <p:font typeface="Open Sans" charset="1" panose="020B0606030504020204"/>
      <p:regular r:id="rId19"/>
    </p:embeddedFont>
    <p:embeddedFont>
      <p:font typeface="Open Sans Bold" charset="1" panose="020B0806030504020204"/>
      <p:regular r:id="rId20"/>
    </p:embeddedFont>
    <p:embeddedFont>
      <p:font typeface="Proxima Nova" charset="1" panose="02000506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joseph-koop.github.io/hci-final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73765" y="2770434"/>
            <a:ext cx="7645490" cy="5594014"/>
          </a:xfrm>
          <a:custGeom>
            <a:avLst/>
            <a:gdLst/>
            <a:ahLst/>
            <a:cxnLst/>
            <a:rect r="r" b="b" t="t" l="l"/>
            <a:pathLst>
              <a:path h="5594014" w="7645490">
                <a:moveTo>
                  <a:pt x="0" y="0"/>
                </a:moveTo>
                <a:lnTo>
                  <a:pt x="7645490" y="0"/>
                </a:lnTo>
                <a:lnTo>
                  <a:pt x="7645490" y="5594014"/>
                </a:lnTo>
                <a:lnTo>
                  <a:pt x="0" y="559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9422" y="3804865"/>
            <a:ext cx="13092747" cy="7499752"/>
          </a:xfrm>
          <a:custGeom>
            <a:avLst/>
            <a:gdLst/>
            <a:ahLst/>
            <a:cxnLst/>
            <a:rect r="r" b="b" t="t" l="l"/>
            <a:pathLst>
              <a:path h="7499752" w="13092747">
                <a:moveTo>
                  <a:pt x="0" y="0"/>
                </a:moveTo>
                <a:lnTo>
                  <a:pt x="13092747" y="0"/>
                </a:lnTo>
                <a:lnTo>
                  <a:pt x="13092747" y="7499751"/>
                </a:lnTo>
                <a:lnTo>
                  <a:pt x="0" y="7499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4412" y="7826835"/>
            <a:ext cx="5743713" cy="2871857"/>
          </a:xfrm>
          <a:custGeom>
            <a:avLst/>
            <a:gdLst/>
            <a:ahLst/>
            <a:cxnLst/>
            <a:rect r="r" b="b" t="t" l="l"/>
            <a:pathLst>
              <a:path h="2871857" w="5743713">
                <a:moveTo>
                  <a:pt x="0" y="0"/>
                </a:moveTo>
                <a:lnTo>
                  <a:pt x="5743713" y="0"/>
                </a:lnTo>
                <a:lnTo>
                  <a:pt x="5743713" y="2871857"/>
                </a:lnTo>
                <a:lnTo>
                  <a:pt x="0" y="2871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78125" y="5469687"/>
            <a:ext cx="5416239" cy="5152198"/>
          </a:xfrm>
          <a:custGeom>
            <a:avLst/>
            <a:gdLst/>
            <a:ahLst/>
            <a:cxnLst/>
            <a:rect r="r" b="b" t="t" l="l"/>
            <a:pathLst>
              <a:path h="5152198" w="5416239">
                <a:moveTo>
                  <a:pt x="0" y="0"/>
                </a:moveTo>
                <a:lnTo>
                  <a:pt x="5416239" y="0"/>
                </a:lnTo>
                <a:lnTo>
                  <a:pt x="5416239" y="5152197"/>
                </a:lnTo>
                <a:lnTo>
                  <a:pt x="0" y="51521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95338" y="1730482"/>
            <a:ext cx="11482787" cy="273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Final Prototype Presentation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652179">
            <a:off x="-727674" y="-47844"/>
            <a:ext cx="2869524" cy="2619093"/>
          </a:xfrm>
          <a:custGeom>
            <a:avLst/>
            <a:gdLst/>
            <a:ahLst/>
            <a:cxnLst/>
            <a:rect r="r" b="b" t="t" l="l"/>
            <a:pathLst>
              <a:path h="2619093" w="2869524">
                <a:moveTo>
                  <a:pt x="0" y="0"/>
                </a:moveTo>
                <a:lnTo>
                  <a:pt x="2869524" y="0"/>
                </a:lnTo>
                <a:lnTo>
                  <a:pt x="2869524" y="2619093"/>
                </a:lnTo>
                <a:lnTo>
                  <a:pt x="0" y="2619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36712" y="9603134"/>
            <a:ext cx="24361423" cy="1018750"/>
          </a:xfrm>
          <a:custGeom>
            <a:avLst/>
            <a:gdLst/>
            <a:ahLst/>
            <a:cxnLst/>
            <a:rect r="r" b="b" t="t" l="l"/>
            <a:pathLst>
              <a:path h="1018750" w="24361423">
                <a:moveTo>
                  <a:pt x="0" y="0"/>
                </a:moveTo>
                <a:lnTo>
                  <a:pt x="24361424" y="0"/>
                </a:lnTo>
                <a:lnTo>
                  <a:pt x="24361424" y="1018750"/>
                </a:lnTo>
                <a:lnTo>
                  <a:pt x="0" y="1018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64659" y="5251785"/>
            <a:ext cx="8744145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C2E30"/>
                </a:solidFill>
                <a:latin typeface="Open Sans"/>
                <a:ea typeface="Open Sans"/>
                <a:cs typeface="Open Sans"/>
                <a:sym typeface="Open Sans"/>
              </a:rPr>
              <a:t>Joseph Koop, Enrique Garcia, Kelvin Gordon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Open Sans"/>
                <a:ea typeface="Open Sans"/>
                <a:cs typeface="Open Sans"/>
                <a:sym typeface="Open Sans"/>
              </a:rPr>
              <a:t>Human Computer Interface - SPP7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70313" y="1558405"/>
            <a:ext cx="16747373" cy="9593184"/>
          </a:xfrm>
          <a:custGeom>
            <a:avLst/>
            <a:gdLst/>
            <a:ahLst/>
            <a:cxnLst/>
            <a:rect r="r" b="b" t="t" l="l"/>
            <a:pathLst>
              <a:path h="9593184" w="16747373">
                <a:moveTo>
                  <a:pt x="16747374" y="0"/>
                </a:moveTo>
                <a:lnTo>
                  <a:pt x="0" y="0"/>
                </a:lnTo>
                <a:lnTo>
                  <a:pt x="0" y="9593185"/>
                </a:lnTo>
                <a:lnTo>
                  <a:pt x="16747374" y="9593185"/>
                </a:lnTo>
                <a:lnTo>
                  <a:pt x="16747374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40958" y="8098783"/>
            <a:ext cx="6762055" cy="3381027"/>
          </a:xfrm>
          <a:custGeom>
            <a:avLst/>
            <a:gdLst/>
            <a:ahLst/>
            <a:cxnLst/>
            <a:rect r="r" b="b" t="t" l="l"/>
            <a:pathLst>
              <a:path h="3381027" w="6762055">
                <a:moveTo>
                  <a:pt x="0" y="0"/>
                </a:moveTo>
                <a:lnTo>
                  <a:pt x="6762054" y="0"/>
                </a:lnTo>
                <a:lnTo>
                  <a:pt x="6762054" y="3381027"/>
                </a:lnTo>
                <a:lnTo>
                  <a:pt x="0" y="3381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7681881"/>
            <a:ext cx="3971970" cy="3469708"/>
          </a:xfrm>
          <a:custGeom>
            <a:avLst/>
            <a:gdLst/>
            <a:ahLst/>
            <a:cxnLst/>
            <a:rect r="r" b="b" t="t" l="l"/>
            <a:pathLst>
              <a:path h="3469708" w="3971970">
                <a:moveTo>
                  <a:pt x="0" y="0"/>
                </a:moveTo>
                <a:lnTo>
                  <a:pt x="3971970" y="0"/>
                </a:lnTo>
                <a:lnTo>
                  <a:pt x="3971970" y="3469709"/>
                </a:lnTo>
                <a:lnTo>
                  <a:pt x="0" y="34697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4162633" y="-965199"/>
            <a:ext cx="4894329" cy="4467188"/>
          </a:xfrm>
          <a:custGeom>
            <a:avLst/>
            <a:gdLst/>
            <a:ahLst/>
            <a:cxnLst/>
            <a:rect r="r" b="b" t="t" l="l"/>
            <a:pathLst>
              <a:path h="4467188" w="4894329">
                <a:moveTo>
                  <a:pt x="0" y="0"/>
                </a:moveTo>
                <a:lnTo>
                  <a:pt x="4894329" y="0"/>
                </a:lnTo>
                <a:lnTo>
                  <a:pt x="4894329" y="4467188"/>
                </a:lnTo>
                <a:lnTo>
                  <a:pt x="0" y="4467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7340" y="982099"/>
            <a:ext cx="3988623" cy="3988623"/>
          </a:xfrm>
          <a:custGeom>
            <a:avLst/>
            <a:gdLst/>
            <a:ahLst/>
            <a:cxnLst/>
            <a:rect r="r" b="b" t="t" l="l"/>
            <a:pathLst>
              <a:path h="3988623" w="3988623">
                <a:moveTo>
                  <a:pt x="0" y="0"/>
                </a:moveTo>
                <a:lnTo>
                  <a:pt x="3988623" y="0"/>
                </a:lnTo>
                <a:lnTo>
                  <a:pt x="3988623" y="3988623"/>
                </a:lnTo>
                <a:lnTo>
                  <a:pt x="0" y="39886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76040" y="2950050"/>
            <a:ext cx="7862069" cy="116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7"/>
              </a:lnSpc>
            </a:pPr>
            <a:r>
              <a:rPr lang="en-US" sz="900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SiteManager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0379" y="5401868"/>
            <a:ext cx="14107242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“Right people. Right equipment. Right on time.”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09664" y="934134"/>
            <a:ext cx="9068672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953" y="5054878"/>
            <a:ext cx="4444690" cy="40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383" spc="26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\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48830" y="2475493"/>
            <a:ext cx="13720219" cy="6393175"/>
            <a:chOff x="0" y="0"/>
            <a:chExt cx="3613556" cy="1683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3555" cy="1683799"/>
            </a:xfrm>
            <a:custGeom>
              <a:avLst/>
              <a:gdLst/>
              <a:ahLst/>
              <a:cxnLst/>
              <a:rect r="r" b="b" t="t" l="l"/>
              <a:pathLst>
                <a:path h="1683799" w="3613555">
                  <a:moveTo>
                    <a:pt x="28566" y="0"/>
                  </a:moveTo>
                  <a:lnTo>
                    <a:pt x="3584989" y="0"/>
                  </a:lnTo>
                  <a:cubicBezTo>
                    <a:pt x="3592566" y="0"/>
                    <a:pt x="3599831" y="3010"/>
                    <a:pt x="3605188" y="8367"/>
                  </a:cubicBezTo>
                  <a:cubicBezTo>
                    <a:pt x="3610546" y="13724"/>
                    <a:pt x="3613555" y="20990"/>
                    <a:pt x="3613555" y="28566"/>
                  </a:cubicBezTo>
                  <a:lnTo>
                    <a:pt x="3613555" y="1655233"/>
                  </a:lnTo>
                  <a:cubicBezTo>
                    <a:pt x="3613555" y="1671010"/>
                    <a:pt x="3600766" y="1683799"/>
                    <a:pt x="3584989" y="1683799"/>
                  </a:cubicBezTo>
                  <a:lnTo>
                    <a:pt x="28566" y="1683799"/>
                  </a:lnTo>
                  <a:cubicBezTo>
                    <a:pt x="12790" y="1683799"/>
                    <a:pt x="0" y="1671010"/>
                    <a:pt x="0" y="1655233"/>
                  </a:cubicBezTo>
                  <a:lnTo>
                    <a:pt x="0" y="28566"/>
                  </a:lnTo>
                  <a:cubicBezTo>
                    <a:pt x="0" y="12790"/>
                    <a:pt x="12790" y="0"/>
                    <a:pt x="28566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3556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19647" y="4476477"/>
            <a:ext cx="13201095" cy="155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 spc="32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Construction companies require a digital dashboard to track all projects, employees, and equipment in one centralized location</a:t>
            </a:r>
          </a:p>
          <a:p>
            <a:pPr algn="ctr">
              <a:lnSpc>
                <a:spcPts val="417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051734"/>
            <a:ext cx="10517519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50476" y="2475493"/>
            <a:ext cx="12684757" cy="6393175"/>
            <a:chOff x="0" y="0"/>
            <a:chExt cx="3340841" cy="1683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0841" cy="1683799"/>
            </a:xfrm>
            <a:custGeom>
              <a:avLst/>
              <a:gdLst/>
              <a:ahLst/>
              <a:cxnLst/>
              <a:rect r="r" b="b" t="t" l="l"/>
              <a:pathLst>
                <a:path h="1683799" w="3340841">
                  <a:moveTo>
                    <a:pt x="30898" y="0"/>
                  </a:moveTo>
                  <a:lnTo>
                    <a:pt x="3309943" y="0"/>
                  </a:lnTo>
                  <a:cubicBezTo>
                    <a:pt x="3327008" y="0"/>
                    <a:pt x="3340841" y="13834"/>
                    <a:pt x="3340841" y="30898"/>
                  </a:cubicBezTo>
                  <a:lnTo>
                    <a:pt x="3340841" y="1652901"/>
                  </a:lnTo>
                  <a:cubicBezTo>
                    <a:pt x="3340841" y="1669966"/>
                    <a:pt x="3327008" y="1683799"/>
                    <a:pt x="3309943" y="1683799"/>
                  </a:cubicBezTo>
                  <a:lnTo>
                    <a:pt x="30898" y="1683799"/>
                  </a:lnTo>
                  <a:cubicBezTo>
                    <a:pt x="13834" y="1683799"/>
                    <a:pt x="0" y="1669966"/>
                    <a:pt x="0" y="1652901"/>
                  </a:cubicBezTo>
                  <a:lnTo>
                    <a:pt x="0" y="30898"/>
                  </a:lnTo>
                  <a:cubicBezTo>
                    <a:pt x="0" y="13834"/>
                    <a:pt x="13834" y="0"/>
                    <a:pt x="30898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40841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39023" y="4214539"/>
            <a:ext cx="11400292" cy="20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2983" spc="32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Our solution is to create a project dashboard and map that links to projects and shows exactly which employees, equipment, and materials are needed at each location.</a:t>
            </a:r>
          </a:p>
          <a:p>
            <a:pPr algn="l">
              <a:lnSpc>
                <a:spcPts val="417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051734"/>
            <a:ext cx="10517519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Tools Used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50476" y="2475493"/>
            <a:ext cx="12684757" cy="6393175"/>
            <a:chOff x="0" y="0"/>
            <a:chExt cx="3340841" cy="1683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40841" cy="1683799"/>
            </a:xfrm>
            <a:custGeom>
              <a:avLst/>
              <a:gdLst/>
              <a:ahLst/>
              <a:cxnLst/>
              <a:rect r="r" b="b" t="t" l="l"/>
              <a:pathLst>
                <a:path h="1683799" w="3340841">
                  <a:moveTo>
                    <a:pt x="30898" y="0"/>
                  </a:moveTo>
                  <a:lnTo>
                    <a:pt x="3309943" y="0"/>
                  </a:lnTo>
                  <a:cubicBezTo>
                    <a:pt x="3327008" y="0"/>
                    <a:pt x="3340841" y="13834"/>
                    <a:pt x="3340841" y="30898"/>
                  </a:cubicBezTo>
                  <a:lnTo>
                    <a:pt x="3340841" y="1652901"/>
                  </a:lnTo>
                  <a:cubicBezTo>
                    <a:pt x="3340841" y="1669966"/>
                    <a:pt x="3327008" y="1683799"/>
                    <a:pt x="3309943" y="1683799"/>
                  </a:cubicBezTo>
                  <a:lnTo>
                    <a:pt x="30898" y="1683799"/>
                  </a:lnTo>
                  <a:cubicBezTo>
                    <a:pt x="13834" y="1683799"/>
                    <a:pt x="0" y="1669966"/>
                    <a:pt x="0" y="1652901"/>
                  </a:cubicBezTo>
                  <a:lnTo>
                    <a:pt x="0" y="30898"/>
                  </a:lnTo>
                  <a:cubicBezTo>
                    <a:pt x="0" y="13834"/>
                    <a:pt x="13834" y="0"/>
                    <a:pt x="30898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40841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4744" y="6029464"/>
            <a:ext cx="1770346" cy="1612145"/>
          </a:xfrm>
          <a:custGeom>
            <a:avLst/>
            <a:gdLst/>
            <a:ahLst/>
            <a:cxnLst/>
            <a:rect r="r" b="b" t="t" l="l"/>
            <a:pathLst>
              <a:path h="1612145" w="1770346">
                <a:moveTo>
                  <a:pt x="0" y="0"/>
                </a:moveTo>
                <a:lnTo>
                  <a:pt x="1770347" y="0"/>
                </a:lnTo>
                <a:lnTo>
                  <a:pt x="1770347" y="1612145"/>
                </a:lnTo>
                <a:lnTo>
                  <a:pt x="0" y="1612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22575" y="8561818"/>
            <a:ext cx="1392963" cy="1392963"/>
          </a:xfrm>
          <a:custGeom>
            <a:avLst/>
            <a:gdLst/>
            <a:ahLst/>
            <a:cxnLst/>
            <a:rect r="r" b="b" t="t" l="l"/>
            <a:pathLst>
              <a:path h="1392963" w="1392963">
                <a:moveTo>
                  <a:pt x="0" y="0"/>
                </a:moveTo>
                <a:lnTo>
                  <a:pt x="1392963" y="0"/>
                </a:lnTo>
                <a:lnTo>
                  <a:pt x="1392963" y="1392964"/>
                </a:lnTo>
                <a:lnTo>
                  <a:pt x="0" y="13929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462583">
            <a:off x="14946496" y="1271410"/>
            <a:ext cx="2855262" cy="1598947"/>
          </a:xfrm>
          <a:custGeom>
            <a:avLst/>
            <a:gdLst/>
            <a:ahLst/>
            <a:cxnLst/>
            <a:rect r="r" b="b" t="t" l="l"/>
            <a:pathLst>
              <a:path h="1598947" w="2855262">
                <a:moveTo>
                  <a:pt x="0" y="0"/>
                </a:moveTo>
                <a:lnTo>
                  <a:pt x="2855262" y="0"/>
                </a:lnTo>
                <a:lnTo>
                  <a:pt x="2855262" y="1598946"/>
                </a:lnTo>
                <a:lnTo>
                  <a:pt x="0" y="15989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50476" y="2878080"/>
            <a:ext cx="11400292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GitHub (Files and Collaboration)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React + Vite (Front End Framework)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Tailwind (CSS)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JavaScript (Backend Placeholder)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886359" y="2555275"/>
            <a:ext cx="12909857" cy="6393175"/>
            <a:chOff x="0" y="0"/>
            <a:chExt cx="3400127" cy="1683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00127" cy="1683799"/>
            </a:xfrm>
            <a:custGeom>
              <a:avLst/>
              <a:gdLst/>
              <a:ahLst/>
              <a:cxnLst/>
              <a:rect r="r" b="b" t="t" l="l"/>
              <a:pathLst>
                <a:path h="1683799" w="3400127">
                  <a:moveTo>
                    <a:pt x="30359" y="0"/>
                  </a:moveTo>
                  <a:lnTo>
                    <a:pt x="3369768" y="0"/>
                  </a:lnTo>
                  <a:cubicBezTo>
                    <a:pt x="3386535" y="0"/>
                    <a:pt x="3400127" y="13592"/>
                    <a:pt x="3400127" y="30359"/>
                  </a:cubicBezTo>
                  <a:lnTo>
                    <a:pt x="3400127" y="1653440"/>
                  </a:lnTo>
                  <a:cubicBezTo>
                    <a:pt x="3400127" y="1670207"/>
                    <a:pt x="3386535" y="1683799"/>
                    <a:pt x="3369768" y="1683799"/>
                  </a:cubicBezTo>
                  <a:lnTo>
                    <a:pt x="30359" y="1683799"/>
                  </a:lnTo>
                  <a:cubicBezTo>
                    <a:pt x="13592" y="1683799"/>
                    <a:pt x="0" y="1670207"/>
                    <a:pt x="0" y="1653440"/>
                  </a:cubicBezTo>
                  <a:lnTo>
                    <a:pt x="0" y="30359"/>
                  </a:lnTo>
                  <a:cubicBezTo>
                    <a:pt x="0" y="13592"/>
                    <a:pt x="13592" y="0"/>
                    <a:pt x="30359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00127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26786" y="2815875"/>
            <a:ext cx="12429003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LoFi Prototype (Paper version)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MediumFi Prototype (Limited functionality and design)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HiFi Prototype (Final Version)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73944" y="3859207"/>
            <a:ext cx="934687" cy="9346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A791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38983" y="1047750"/>
            <a:ext cx="8210033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Design Evolution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73944" y="5888016"/>
            <a:ext cx="934687" cy="93468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A7913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86" y="967592"/>
            <a:ext cx="12415649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Key Revisions from MedFi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6038437" y="-539386"/>
            <a:ext cx="3260401" cy="2975857"/>
          </a:xfrm>
          <a:custGeom>
            <a:avLst/>
            <a:gdLst/>
            <a:ahLst/>
            <a:cxnLst/>
            <a:rect r="r" b="b" t="t" l="l"/>
            <a:pathLst>
              <a:path h="2975857" w="3260401">
                <a:moveTo>
                  <a:pt x="0" y="0"/>
                </a:moveTo>
                <a:lnTo>
                  <a:pt x="3260401" y="0"/>
                </a:lnTo>
                <a:lnTo>
                  <a:pt x="3260401" y="2975857"/>
                </a:lnTo>
                <a:lnTo>
                  <a:pt x="0" y="2975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86359" y="2555275"/>
            <a:ext cx="12909857" cy="6393175"/>
            <a:chOff x="0" y="0"/>
            <a:chExt cx="3400127" cy="1683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00127" cy="1683799"/>
            </a:xfrm>
            <a:custGeom>
              <a:avLst/>
              <a:gdLst/>
              <a:ahLst/>
              <a:cxnLst/>
              <a:rect r="r" b="b" t="t" l="l"/>
              <a:pathLst>
                <a:path h="1683799" w="3400127">
                  <a:moveTo>
                    <a:pt x="30359" y="0"/>
                  </a:moveTo>
                  <a:lnTo>
                    <a:pt x="3369768" y="0"/>
                  </a:lnTo>
                  <a:cubicBezTo>
                    <a:pt x="3386535" y="0"/>
                    <a:pt x="3400127" y="13592"/>
                    <a:pt x="3400127" y="30359"/>
                  </a:cubicBezTo>
                  <a:lnTo>
                    <a:pt x="3400127" y="1653440"/>
                  </a:lnTo>
                  <a:cubicBezTo>
                    <a:pt x="3400127" y="1670207"/>
                    <a:pt x="3386535" y="1683799"/>
                    <a:pt x="3369768" y="1683799"/>
                  </a:cubicBezTo>
                  <a:lnTo>
                    <a:pt x="30359" y="1683799"/>
                  </a:lnTo>
                  <a:cubicBezTo>
                    <a:pt x="13592" y="1683799"/>
                    <a:pt x="0" y="1670207"/>
                    <a:pt x="0" y="1653440"/>
                  </a:cubicBezTo>
                  <a:lnTo>
                    <a:pt x="0" y="30359"/>
                  </a:lnTo>
                  <a:cubicBezTo>
                    <a:pt x="0" y="13592"/>
                    <a:pt x="13592" y="0"/>
                    <a:pt x="30359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00127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86359" y="2918290"/>
            <a:ext cx="11400292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Individual Project Pages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Individual Equipment Pages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Ability to allocate resources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Map View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Improved Design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86" y="967592"/>
            <a:ext cx="12415649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Features Not Incorporated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6038437" y="-539386"/>
            <a:ext cx="3260401" cy="2975857"/>
          </a:xfrm>
          <a:custGeom>
            <a:avLst/>
            <a:gdLst/>
            <a:ahLst/>
            <a:cxnLst/>
            <a:rect r="r" b="b" t="t" l="l"/>
            <a:pathLst>
              <a:path h="2975857" w="3260401">
                <a:moveTo>
                  <a:pt x="0" y="0"/>
                </a:moveTo>
                <a:lnTo>
                  <a:pt x="3260401" y="0"/>
                </a:lnTo>
                <a:lnTo>
                  <a:pt x="3260401" y="2975857"/>
                </a:lnTo>
                <a:lnTo>
                  <a:pt x="0" y="2975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86359" y="2555275"/>
            <a:ext cx="12909857" cy="6393175"/>
            <a:chOff x="0" y="0"/>
            <a:chExt cx="3400127" cy="1683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00127" cy="1683799"/>
            </a:xfrm>
            <a:custGeom>
              <a:avLst/>
              <a:gdLst/>
              <a:ahLst/>
              <a:cxnLst/>
              <a:rect r="r" b="b" t="t" l="l"/>
              <a:pathLst>
                <a:path h="1683799" w="3400127">
                  <a:moveTo>
                    <a:pt x="30359" y="0"/>
                  </a:moveTo>
                  <a:lnTo>
                    <a:pt x="3369768" y="0"/>
                  </a:lnTo>
                  <a:cubicBezTo>
                    <a:pt x="3386535" y="0"/>
                    <a:pt x="3400127" y="13592"/>
                    <a:pt x="3400127" y="30359"/>
                  </a:cubicBezTo>
                  <a:lnTo>
                    <a:pt x="3400127" y="1653440"/>
                  </a:lnTo>
                  <a:cubicBezTo>
                    <a:pt x="3400127" y="1670207"/>
                    <a:pt x="3386535" y="1683799"/>
                    <a:pt x="3369768" y="1683799"/>
                  </a:cubicBezTo>
                  <a:lnTo>
                    <a:pt x="30359" y="1683799"/>
                  </a:lnTo>
                  <a:cubicBezTo>
                    <a:pt x="13592" y="1683799"/>
                    <a:pt x="0" y="1670207"/>
                    <a:pt x="0" y="1653440"/>
                  </a:cubicBezTo>
                  <a:lnTo>
                    <a:pt x="0" y="30359"/>
                  </a:lnTo>
                  <a:cubicBezTo>
                    <a:pt x="0" y="13592"/>
                    <a:pt x="13592" y="0"/>
                    <a:pt x="30359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00127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443854" y="3185514"/>
            <a:ext cx="11400292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Authorization (Role-based privileges)</a:t>
            </a:r>
          </a:p>
          <a:p>
            <a:pPr algn="l" marL="1727199" indent="-575733" lvl="2">
              <a:lnSpc>
                <a:spcPts val="5599"/>
              </a:lnSpc>
              <a:buFont typeface="Arial"/>
              <a:buChar char="⚬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Manager, Foreman, Mechanic, Employee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Notifications for employees (based on reassignment)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43">
                <a:solidFill>
                  <a:srgbClr val="2C2E30"/>
                </a:solidFill>
                <a:latin typeface="Proxima Nova"/>
                <a:ea typeface="Proxima Nova"/>
                <a:cs typeface="Proxima Nova"/>
                <a:sym typeface="Proxima Nova"/>
              </a:rPr>
              <a:t>Live tracking for equipment and deliveries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34748">
            <a:off x="16038437" y="-539386"/>
            <a:ext cx="3260401" cy="2975857"/>
          </a:xfrm>
          <a:custGeom>
            <a:avLst/>
            <a:gdLst/>
            <a:ahLst/>
            <a:cxnLst/>
            <a:rect r="r" b="b" t="t" l="l"/>
            <a:pathLst>
              <a:path h="2975857" w="3260401">
                <a:moveTo>
                  <a:pt x="0" y="0"/>
                </a:moveTo>
                <a:lnTo>
                  <a:pt x="3260401" y="0"/>
                </a:lnTo>
                <a:lnTo>
                  <a:pt x="3260401" y="2975857"/>
                </a:lnTo>
                <a:lnTo>
                  <a:pt x="0" y="2975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886359" y="2555275"/>
            <a:ext cx="12909857" cy="6393175"/>
            <a:chOff x="0" y="0"/>
            <a:chExt cx="3400127" cy="1683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00127" cy="1683799"/>
            </a:xfrm>
            <a:custGeom>
              <a:avLst/>
              <a:gdLst/>
              <a:ahLst/>
              <a:cxnLst/>
              <a:rect r="r" b="b" t="t" l="l"/>
              <a:pathLst>
                <a:path h="1683799" w="3400127">
                  <a:moveTo>
                    <a:pt x="30359" y="0"/>
                  </a:moveTo>
                  <a:lnTo>
                    <a:pt x="3369768" y="0"/>
                  </a:lnTo>
                  <a:cubicBezTo>
                    <a:pt x="3386535" y="0"/>
                    <a:pt x="3400127" y="13592"/>
                    <a:pt x="3400127" y="30359"/>
                  </a:cubicBezTo>
                  <a:lnTo>
                    <a:pt x="3400127" y="1653440"/>
                  </a:lnTo>
                  <a:cubicBezTo>
                    <a:pt x="3400127" y="1670207"/>
                    <a:pt x="3386535" y="1683799"/>
                    <a:pt x="3369768" y="1683799"/>
                  </a:cubicBezTo>
                  <a:lnTo>
                    <a:pt x="30359" y="1683799"/>
                  </a:lnTo>
                  <a:cubicBezTo>
                    <a:pt x="13592" y="1683799"/>
                    <a:pt x="0" y="1670207"/>
                    <a:pt x="0" y="1653440"/>
                  </a:cubicBezTo>
                  <a:lnTo>
                    <a:pt x="0" y="30359"/>
                  </a:lnTo>
                  <a:cubicBezTo>
                    <a:pt x="0" y="13592"/>
                    <a:pt x="13592" y="0"/>
                    <a:pt x="30359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00127" cy="1721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35729" y="4080224"/>
            <a:ext cx="3267637" cy="3343278"/>
            <a:chOff x="0" y="0"/>
            <a:chExt cx="860612" cy="880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0612" cy="880534"/>
            </a:xfrm>
            <a:custGeom>
              <a:avLst/>
              <a:gdLst/>
              <a:ahLst/>
              <a:cxnLst/>
              <a:rect r="r" b="b" t="t" l="l"/>
              <a:pathLst>
                <a:path h="880534" w="860612">
                  <a:moveTo>
                    <a:pt x="120833" y="0"/>
                  </a:moveTo>
                  <a:lnTo>
                    <a:pt x="739779" y="0"/>
                  </a:lnTo>
                  <a:cubicBezTo>
                    <a:pt x="806514" y="0"/>
                    <a:pt x="860612" y="54099"/>
                    <a:pt x="860612" y="120833"/>
                  </a:cubicBezTo>
                  <a:lnTo>
                    <a:pt x="860612" y="759701"/>
                  </a:lnTo>
                  <a:cubicBezTo>
                    <a:pt x="860612" y="826435"/>
                    <a:pt x="806514" y="880534"/>
                    <a:pt x="739779" y="880534"/>
                  </a:cubicBezTo>
                  <a:lnTo>
                    <a:pt x="120833" y="880534"/>
                  </a:lnTo>
                  <a:cubicBezTo>
                    <a:pt x="88786" y="880534"/>
                    <a:pt x="58052" y="867804"/>
                    <a:pt x="35391" y="845143"/>
                  </a:cubicBezTo>
                  <a:cubicBezTo>
                    <a:pt x="12731" y="822482"/>
                    <a:pt x="0" y="791748"/>
                    <a:pt x="0" y="759701"/>
                  </a:cubicBezTo>
                  <a:lnTo>
                    <a:pt x="0" y="120833"/>
                  </a:lnTo>
                  <a:cubicBezTo>
                    <a:pt x="0" y="54099"/>
                    <a:pt x="54099" y="0"/>
                    <a:pt x="120833" y="0"/>
                  </a:cubicBezTo>
                  <a:close/>
                </a:path>
              </a:pathLst>
            </a:custGeom>
            <a:solidFill>
              <a:srgbClr val="DE9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0612" cy="91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Store the list of heavy equipment and their maintenance records and status, allowing the mechanic to edit as required.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26786" y="967592"/>
            <a:ext cx="12415649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Three Main Tasks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808486" y="4080224"/>
            <a:ext cx="3267637" cy="3343278"/>
            <a:chOff x="0" y="0"/>
            <a:chExt cx="860612" cy="8805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0612" cy="880534"/>
            </a:xfrm>
            <a:custGeom>
              <a:avLst/>
              <a:gdLst/>
              <a:ahLst/>
              <a:cxnLst/>
              <a:rect r="r" b="b" t="t" l="l"/>
              <a:pathLst>
                <a:path h="880534" w="860612">
                  <a:moveTo>
                    <a:pt x="120833" y="0"/>
                  </a:moveTo>
                  <a:lnTo>
                    <a:pt x="739779" y="0"/>
                  </a:lnTo>
                  <a:cubicBezTo>
                    <a:pt x="806514" y="0"/>
                    <a:pt x="860612" y="54099"/>
                    <a:pt x="860612" y="120833"/>
                  </a:cubicBezTo>
                  <a:lnTo>
                    <a:pt x="860612" y="759701"/>
                  </a:lnTo>
                  <a:cubicBezTo>
                    <a:pt x="860612" y="826435"/>
                    <a:pt x="806514" y="880534"/>
                    <a:pt x="739779" y="880534"/>
                  </a:cubicBezTo>
                  <a:lnTo>
                    <a:pt x="120833" y="880534"/>
                  </a:lnTo>
                  <a:cubicBezTo>
                    <a:pt x="88786" y="880534"/>
                    <a:pt x="58052" y="867804"/>
                    <a:pt x="35391" y="845143"/>
                  </a:cubicBezTo>
                  <a:cubicBezTo>
                    <a:pt x="12731" y="822482"/>
                    <a:pt x="0" y="791748"/>
                    <a:pt x="0" y="759701"/>
                  </a:cubicBezTo>
                  <a:lnTo>
                    <a:pt x="0" y="120833"/>
                  </a:lnTo>
                  <a:cubicBezTo>
                    <a:pt x="0" y="54099"/>
                    <a:pt x="54099" y="0"/>
                    <a:pt x="120833" y="0"/>
                  </a:cubicBezTo>
                  <a:close/>
                </a:path>
              </a:pathLst>
            </a:custGeom>
            <a:solidFill>
              <a:srgbClr val="DE9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0612" cy="91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Show all ongoing projects on an interactive map. Each project contains a list of assigned employees, equipment, and materials that can be edited by the manager.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21698" y="4080224"/>
            <a:ext cx="3267637" cy="3343278"/>
            <a:chOff x="0" y="0"/>
            <a:chExt cx="860612" cy="8805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0612" cy="880534"/>
            </a:xfrm>
            <a:custGeom>
              <a:avLst/>
              <a:gdLst/>
              <a:ahLst/>
              <a:cxnLst/>
              <a:rect r="r" b="b" t="t" l="l"/>
              <a:pathLst>
                <a:path h="880534" w="860612">
                  <a:moveTo>
                    <a:pt x="120833" y="0"/>
                  </a:moveTo>
                  <a:lnTo>
                    <a:pt x="739779" y="0"/>
                  </a:lnTo>
                  <a:cubicBezTo>
                    <a:pt x="806514" y="0"/>
                    <a:pt x="860612" y="54099"/>
                    <a:pt x="860612" y="120833"/>
                  </a:cubicBezTo>
                  <a:lnTo>
                    <a:pt x="860612" y="759701"/>
                  </a:lnTo>
                  <a:cubicBezTo>
                    <a:pt x="860612" y="826435"/>
                    <a:pt x="806514" y="880534"/>
                    <a:pt x="739779" y="880534"/>
                  </a:cubicBezTo>
                  <a:lnTo>
                    <a:pt x="120833" y="880534"/>
                  </a:lnTo>
                  <a:cubicBezTo>
                    <a:pt x="88786" y="880534"/>
                    <a:pt x="58052" y="867804"/>
                    <a:pt x="35391" y="845143"/>
                  </a:cubicBezTo>
                  <a:cubicBezTo>
                    <a:pt x="12731" y="822482"/>
                    <a:pt x="0" y="791748"/>
                    <a:pt x="0" y="759701"/>
                  </a:cubicBezTo>
                  <a:lnTo>
                    <a:pt x="0" y="120833"/>
                  </a:lnTo>
                  <a:cubicBezTo>
                    <a:pt x="0" y="54099"/>
                    <a:pt x="54099" y="0"/>
                    <a:pt x="120833" y="0"/>
                  </a:cubicBezTo>
                  <a:close/>
                </a:path>
              </a:pathLst>
            </a:custGeom>
            <a:solidFill>
              <a:srgbClr val="DE9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60612" cy="91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Store the list of all ongoing projects and allow the foreman to see required equipment/materials and upload progress notes.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674905" y="3264249"/>
            <a:ext cx="1189286" cy="14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Easy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828611" y="3264249"/>
            <a:ext cx="1227386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Hard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11843" y="3264249"/>
            <a:ext cx="2058888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Medium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92756" y="7398642"/>
            <a:ext cx="226099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Manager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46021" y="7398642"/>
            <a:ext cx="2195959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Foreman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37698" y="7398642"/>
            <a:ext cx="2463701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Mechanic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051734"/>
            <a:ext cx="6545941" cy="101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Prototype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77423" y="3527801"/>
            <a:ext cx="11533155" cy="3231399"/>
            <a:chOff x="0" y="0"/>
            <a:chExt cx="3037539" cy="851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37539" cy="851068"/>
            </a:xfrm>
            <a:custGeom>
              <a:avLst/>
              <a:gdLst/>
              <a:ahLst/>
              <a:cxnLst/>
              <a:rect r="r" b="b" t="t" l="l"/>
              <a:pathLst>
                <a:path h="851068" w="3037539">
                  <a:moveTo>
                    <a:pt x="33983" y="0"/>
                  </a:moveTo>
                  <a:lnTo>
                    <a:pt x="3003555" y="0"/>
                  </a:lnTo>
                  <a:cubicBezTo>
                    <a:pt x="3012568" y="0"/>
                    <a:pt x="3021212" y="3580"/>
                    <a:pt x="3027585" y="9953"/>
                  </a:cubicBezTo>
                  <a:cubicBezTo>
                    <a:pt x="3033958" y="16327"/>
                    <a:pt x="3037539" y="24970"/>
                    <a:pt x="3037539" y="33983"/>
                  </a:cubicBezTo>
                  <a:lnTo>
                    <a:pt x="3037539" y="817085"/>
                  </a:lnTo>
                  <a:cubicBezTo>
                    <a:pt x="3037539" y="826098"/>
                    <a:pt x="3033958" y="834741"/>
                    <a:pt x="3027585" y="841115"/>
                  </a:cubicBezTo>
                  <a:cubicBezTo>
                    <a:pt x="3021212" y="847488"/>
                    <a:pt x="3012568" y="851068"/>
                    <a:pt x="3003555" y="851068"/>
                  </a:cubicBezTo>
                  <a:lnTo>
                    <a:pt x="33983" y="851068"/>
                  </a:lnTo>
                  <a:cubicBezTo>
                    <a:pt x="24970" y="851068"/>
                    <a:pt x="16327" y="847488"/>
                    <a:pt x="9953" y="841115"/>
                  </a:cubicBezTo>
                  <a:cubicBezTo>
                    <a:pt x="3580" y="834741"/>
                    <a:pt x="0" y="826098"/>
                    <a:pt x="0" y="817085"/>
                  </a:cubicBezTo>
                  <a:lnTo>
                    <a:pt x="0" y="33983"/>
                  </a:lnTo>
                  <a:cubicBezTo>
                    <a:pt x="0" y="24970"/>
                    <a:pt x="3580" y="16327"/>
                    <a:pt x="9953" y="9953"/>
                  </a:cubicBezTo>
                  <a:cubicBezTo>
                    <a:pt x="16327" y="3580"/>
                    <a:pt x="24970" y="0"/>
                    <a:pt x="33983" y="0"/>
                  </a:cubicBezTo>
                  <a:close/>
                </a:path>
              </a:pathLst>
            </a:custGeom>
            <a:solidFill>
              <a:srgbClr val="FEF6F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3037539" cy="92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u="sng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10" tooltip="https://joseph-koop.github.io/hci-final/"/>
                </a:rPr>
                <a:t>HiFi Prototype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5833" y="4138571"/>
            <a:ext cx="13096334" cy="204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13698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QnA Time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32279" y="1493321"/>
            <a:ext cx="15152817" cy="11086937"/>
          </a:xfrm>
          <a:custGeom>
            <a:avLst/>
            <a:gdLst/>
            <a:ahLst/>
            <a:cxnLst/>
            <a:rect r="r" b="b" t="t" l="l"/>
            <a:pathLst>
              <a:path h="11086937" w="15152817">
                <a:moveTo>
                  <a:pt x="0" y="0"/>
                </a:moveTo>
                <a:lnTo>
                  <a:pt x="15152818" y="0"/>
                </a:lnTo>
                <a:lnTo>
                  <a:pt x="15152818" y="11086937"/>
                </a:lnTo>
                <a:lnTo>
                  <a:pt x="0" y="11086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16970" y="7036790"/>
            <a:ext cx="8886042" cy="4443021"/>
          </a:xfrm>
          <a:custGeom>
            <a:avLst/>
            <a:gdLst/>
            <a:ahLst/>
            <a:cxnLst/>
            <a:rect r="r" b="b" t="t" l="l"/>
            <a:pathLst>
              <a:path h="4443021" w="8886042">
                <a:moveTo>
                  <a:pt x="0" y="0"/>
                </a:moveTo>
                <a:lnTo>
                  <a:pt x="8886042" y="0"/>
                </a:lnTo>
                <a:lnTo>
                  <a:pt x="8886042" y="4443020"/>
                </a:lnTo>
                <a:lnTo>
                  <a:pt x="0" y="4443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28645" y="6585746"/>
            <a:ext cx="5226779" cy="4565844"/>
          </a:xfrm>
          <a:custGeom>
            <a:avLst/>
            <a:gdLst/>
            <a:ahLst/>
            <a:cxnLst/>
            <a:rect r="r" b="b" t="t" l="l"/>
            <a:pathLst>
              <a:path h="4565844" w="5226779">
                <a:moveTo>
                  <a:pt x="0" y="0"/>
                </a:moveTo>
                <a:lnTo>
                  <a:pt x="5226779" y="0"/>
                </a:lnTo>
                <a:lnTo>
                  <a:pt x="5226779" y="4565844"/>
                </a:lnTo>
                <a:lnTo>
                  <a:pt x="0" y="4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34748">
            <a:off x="14605868" y="-864583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0800" y="-392873"/>
            <a:ext cx="18789601" cy="785747"/>
          </a:xfrm>
          <a:custGeom>
            <a:avLst/>
            <a:gdLst/>
            <a:ahLst/>
            <a:cxnLst/>
            <a:rect r="r" b="b" t="t" l="l"/>
            <a:pathLst>
              <a:path h="785747" w="18789601">
                <a:moveTo>
                  <a:pt x="0" y="0"/>
                </a:moveTo>
                <a:lnTo>
                  <a:pt x="18789600" y="0"/>
                </a:lnTo>
                <a:lnTo>
                  <a:pt x="18789600" y="785746"/>
                </a:lnTo>
                <a:lnTo>
                  <a:pt x="0" y="78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73765" y="1922552"/>
            <a:ext cx="8804313" cy="6441895"/>
          </a:xfrm>
          <a:custGeom>
            <a:avLst/>
            <a:gdLst/>
            <a:ahLst/>
            <a:cxnLst/>
            <a:rect r="r" b="b" t="t" l="l"/>
            <a:pathLst>
              <a:path h="6441895" w="8804313">
                <a:moveTo>
                  <a:pt x="0" y="0"/>
                </a:moveTo>
                <a:lnTo>
                  <a:pt x="8804313" y="0"/>
                </a:lnTo>
                <a:lnTo>
                  <a:pt x="8804313" y="6441896"/>
                </a:lnTo>
                <a:lnTo>
                  <a:pt x="0" y="64418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11206" y="1546038"/>
            <a:ext cx="16747373" cy="9593184"/>
          </a:xfrm>
          <a:custGeom>
            <a:avLst/>
            <a:gdLst/>
            <a:ahLst/>
            <a:cxnLst/>
            <a:rect r="r" b="b" t="t" l="l"/>
            <a:pathLst>
              <a:path h="9593184" w="16747373">
                <a:moveTo>
                  <a:pt x="0" y="0"/>
                </a:moveTo>
                <a:lnTo>
                  <a:pt x="16747373" y="0"/>
                </a:lnTo>
                <a:lnTo>
                  <a:pt x="16747373" y="9593184"/>
                </a:lnTo>
                <a:lnTo>
                  <a:pt x="0" y="9593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4412" y="7041092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65760" y="3460299"/>
            <a:ext cx="7528604" cy="7161585"/>
          </a:xfrm>
          <a:custGeom>
            <a:avLst/>
            <a:gdLst/>
            <a:ahLst/>
            <a:cxnLst/>
            <a:rect r="r" b="b" t="t" l="l"/>
            <a:pathLst>
              <a:path h="7161585" w="7528604">
                <a:moveTo>
                  <a:pt x="0" y="0"/>
                </a:moveTo>
                <a:lnTo>
                  <a:pt x="7528604" y="0"/>
                </a:lnTo>
                <a:lnTo>
                  <a:pt x="7528604" y="7161585"/>
                </a:lnTo>
                <a:lnTo>
                  <a:pt x="0" y="71615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02607" y="2709412"/>
            <a:ext cx="11482787" cy="490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2C2E30"/>
                </a:solidFill>
                <a:latin typeface="Chunk Five"/>
                <a:ea typeface="Chunk Five"/>
                <a:cs typeface="Chunk Five"/>
                <a:sym typeface="Chunk Five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652179">
            <a:off x="-474753" y="-511362"/>
            <a:ext cx="4508247" cy="4114800"/>
          </a:xfrm>
          <a:custGeom>
            <a:avLst/>
            <a:gdLst/>
            <a:ahLst/>
            <a:cxnLst/>
            <a:rect r="r" b="b" t="t" l="l"/>
            <a:pathLst>
              <a:path h="4114800" w="4508247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36712" y="9603134"/>
            <a:ext cx="24361423" cy="1018750"/>
          </a:xfrm>
          <a:custGeom>
            <a:avLst/>
            <a:gdLst/>
            <a:ahLst/>
            <a:cxnLst/>
            <a:rect r="r" b="b" t="t" l="l"/>
            <a:pathLst>
              <a:path h="1018750" w="24361423">
                <a:moveTo>
                  <a:pt x="0" y="0"/>
                </a:moveTo>
                <a:lnTo>
                  <a:pt x="24361424" y="0"/>
                </a:lnTo>
                <a:lnTo>
                  <a:pt x="24361424" y="1018750"/>
                </a:lnTo>
                <a:lnTo>
                  <a:pt x="0" y="1018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DAG7Icz_tO0</dc:identifier>
  <dcterms:modified xsi:type="dcterms:W3CDTF">2011-08-01T06:04:30Z</dcterms:modified>
  <cp:revision>1</cp:revision>
  <dc:title>Presentation: Joseph Koop, Kelvin Gordon, Enrique Garcia</dc:title>
</cp:coreProperties>
</file>
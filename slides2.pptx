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Figtree"/>
      <p:regular r:id="rId29"/>
      <p:bold r:id="rId30"/>
      <p:italic r:id="rId31"/>
      <p:boldItalic r:id="rId32"/>
    </p:embeddedFont>
    <p:embeddedFont>
      <p:font typeface="Raleway"/>
      <p:regular r:id="rId33"/>
      <p:bold r:id="rId34"/>
      <p:italic r:id="rId35"/>
      <p:boldItalic r:id="rId36"/>
    </p:embeddedFont>
    <p:embeddedFont>
      <p:font typeface="Figtree ExtraBold"/>
      <p:bold r:id="rId37"/>
      <p:boldItalic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DM Sans Light"/>
      <p:regular r:id="rId43"/>
      <p:bold r:id="rId44"/>
      <p:italic r:id="rId45"/>
      <p:boldItalic r:id="rId46"/>
    </p:embeddedFont>
    <p:embeddedFont>
      <p:font typeface="Calistoga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5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7.xml"/><Relationship Id="rId44" Type="http://schemas.openxmlformats.org/officeDocument/2006/relationships/font" Target="fonts/DMSansLight-bold.fntdata"/><Relationship Id="rId21" Type="http://schemas.openxmlformats.org/officeDocument/2006/relationships/slide" Target="slides/slide16.xml"/><Relationship Id="rId43" Type="http://schemas.openxmlformats.org/officeDocument/2006/relationships/font" Target="fonts/DMSansLight-regular.fntdata"/><Relationship Id="rId24" Type="http://schemas.openxmlformats.org/officeDocument/2006/relationships/slide" Target="slides/slide19.xml"/><Relationship Id="rId46" Type="http://schemas.openxmlformats.org/officeDocument/2006/relationships/font" Target="fonts/DMSansLight-boldItalic.fntdata"/><Relationship Id="rId23" Type="http://schemas.openxmlformats.org/officeDocument/2006/relationships/slide" Target="slides/slide18.xml"/><Relationship Id="rId45" Type="http://schemas.openxmlformats.org/officeDocument/2006/relationships/font" Target="fonts/DMSans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Calistoga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-italic.fntdata"/><Relationship Id="rId30" Type="http://schemas.openxmlformats.org/officeDocument/2006/relationships/font" Target="fonts/Figtree-bold.fntdata"/><Relationship Id="rId11" Type="http://schemas.openxmlformats.org/officeDocument/2006/relationships/slide" Target="slides/slide6.xml"/><Relationship Id="rId33" Type="http://schemas.openxmlformats.org/officeDocument/2006/relationships/font" Target="fonts/Raleway-regular.fntdata"/><Relationship Id="rId10" Type="http://schemas.openxmlformats.org/officeDocument/2006/relationships/slide" Target="slides/slide5.xml"/><Relationship Id="rId32" Type="http://schemas.openxmlformats.org/officeDocument/2006/relationships/font" Target="fonts/Figtree-boldItalic.fntdata"/><Relationship Id="rId13" Type="http://schemas.openxmlformats.org/officeDocument/2006/relationships/slide" Target="slides/slide8.xml"/><Relationship Id="rId35" Type="http://schemas.openxmlformats.org/officeDocument/2006/relationships/font" Target="fonts/Raleway-italic.fntdata"/><Relationship Id="rId12" Type="http://schemas.openxmlformats.org/officeDocument/2006/relationships/slide" Target="slides/slide7.xml"/><Relationship Id="rId34" Type="http://schemas.openxmlformats.org/officeDocument/2006/relationships/font" Target="fonts/Raleway-bold.fntdata"/><Relationship Id="rId15" Type="http://schemas.openxmlformats.org/officeDocument/2006/relationships/slide" Target="slides/slide10.xml"/><Relationship Id="rId37" Type="http://schemas.openxmlformats.org/officeDocument/2006/relationships/font" Target="fonts/FigtreeExtraBold-bold.fntdata"/><Relationship Id="rId14" Type="http://schemas.openxmlformats.org/officeDocument/2006/relationships/slide" Target="slides/slide9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regular.fntdata"/><Relationship Id="rId16" Type="http://schemas.openxmlformats.org/officeDocument/2006/relationships/slide" Target="slides/slide11.xml"/><Relationship Id="rId38" Type="http://schemas.openxmlformats.org/officeDocument/2006/relationships/font" Target="fonts/FigtreeExtra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53697dd67_0_1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53697dd67_0_1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51db0e8c6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51db0e8c6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f5d21fb32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f5d21fb32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5d21fb32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5d21fb32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5d21fb3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f5d21fb3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f5d21fb32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f5d21fb3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f5d21fb32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f5d21fb32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f5d21fb32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f5d21fb3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f5d21fb32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f5d21fb32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f5d21fb32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f5d21fb32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53697dd67_0_3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53697dd67_0_3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53697dd67_0_3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53697dd67_0_3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f5d21fb32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f5d21fb32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f5d21fb32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7f5d21fb3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bf224df59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7bf224df5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61ad739f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661ad739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f5d21fb32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f5d21fb32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61ad739f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61ad739f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f5d21fb32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f5d21fb32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61ad739f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661ad739f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f5d21fb32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f5d21fb32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be83e1e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be83e1e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71300"/>
              </a:buClr>
              <a:buSzPts val="1200"/>
              <a:buFont typeface="Figtree"/>
              <a:buChar char="★"/>
            </a:pPr>
            <a:r>
              <a:rPr b="1" lang="en" sz="1200">
                <a:solidFill>
                  <a:srgbClr val="771300"/>
                </a:solidFill>
                <a:latin typeface="Figtree"/>
                <a:ea typeface="Figtree"/>
                <a:cs typeface="Figtree"/>
                <a:sym typeface="Figtree"/>
              </a:rPr>
              <a:t>Not only assigned, but current</a:t>
            </a:r>
            <a:endParaRPr sz="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bf224df59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bf224df59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">
    <p:bg>
      <p:bgPr>
        <a:solidFill>
          <a:schemeClr val="accen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5939125" y="3429001"/>
            <a:ext cx="3204900" cy="17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5939125" y="0"/>
            <a:ext cx="32049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0" y="3429001"/>
            <a:ext cx="32049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0"/>
            <a:ext cx="3204900" cy="17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/>
          <p:nvPr>
            <p:ph idx="2" type="pic"/>
          </p:nvPr>
        </p:nvSpPr>
        <p:spPr>
          <a:xfrm>
            <a:off x="5478525" y="203200"/>
            <a:ext cx="3462300" cy="47367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4"/>
          <p:cNvSpPr/>
          <p:nvPr/>
        </p:nvSpPr>
        <p:spPr>
          <a:xfrm>
            <a:off x="203100" y="203100"/>
            <a:ext cx="5275500" cy="473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530250" y="666150"/>
            <a:ext cx="4621200" cy="38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3343475" y="203100"/>
            <a:ext cx="5597400" cy="473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grpSp>
        <p:nvGrpSpPr>
          <p:cNvPr id="98" name="Google Shape;98;p15"/>
          <p:cNvGrpSpPr/>
          <p:nvPr/>
        </p:nvGrpSpPr>
        <p:grpSpPr>
          <a:xfrm>
            <a:off x="-813200" y="-785627"/>
            <a:ext cx="4904500" cy="5929263"/>
            <a:chOff x="-6240000" y="-785627"/>
            <a:chExt cx="4904500" cy="5929263"/>
          </a:xfrm>
        </p:grpSpPr>
        <p:grpSp>
          <p:nvGrpSpPr>
            <p:cNvPr id="99" name="Google Shape;99;p15"/>
            <p:cNvGrpSpPr/>
            <p:nvPr/>
          </p:nvGrpSpPr>
          <p:grpSpPr>
            <a:xfrm>
              <a:off x="-6240000" y="-785627"/>
              <a:ext cx="4904500" cy="5929068"/>
              <a:chOff x="-6460150" y="-1704700"/>
              <a:chExt cx="4904500" cy="5929068"/>
            </a:xfrm>
          </p:grpSpPr>
          <p:sp>
            <p:nvSpPr>
              <p:cNvPr id="100" name="Google Shape;100;p15"/>
              <p:cNvSpPr/>
              <p:nvPr/>
            </p:nvSpPr>
            <p:spPr>
              <a:xfrm>
                <a:off x="-6460150" y="723668"/>
                <a:ext cx="4904400" cy="3500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 rot="5400000">
                <a:off x="-6460050" y="-1704700"/>
                <a:ext cx="4904400" cy="4904400"/>
              </a:xfrm>
              <a:prstGeom prst="pie">
                <a:avLst>
                  <a:gd fmla="val 5408001" name="adj1"/>
                  <a:gd fmla="val 3301746" name="adj2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</p:grpSp>
        <p:grpSp>
          <p:nvGrpSpPr>
            <p:cNvPr id="102" name="Google Shape;102;p15"/>
            <p:cNvGrpSpPr/>
            <p:nvPr/>
          </p:nvGrpSpPr>
          <p:grpSpPr>
            <a:xfrm>
              <a:off x="-6011172" y="-550306"/>
              <a:ext cx="4446851" cy="5693942"/>
              <a:chOff x="-5976350" y="-1031875"/>
              <a:chExt cx="3937008" cy="5041117"/>
            </a:xfrm>
          </p:grpSpPr>
          <p:sp>
            <p:nvSpPr>
              <p:cNvPr id="103" name="Google Shape;103;p15"/>
              <p:cNvSpPr/>
              <p:nvPr/>
            </p:nvSpPr>
            <p:spPr>
              <a:xfrm>
                <a:off x="-5976350" y="-1031875"/>
                <a:ext cx="3936900" cy="3936900"/>
              </a:xfrm>
              <a:prstGeom prst="blockArc">
                <a:avLst>
                  <a:gd fmla="val 10800000" name="adj1"/>
                  <a:gd fmla="val 0" name="adj2"/>
                  <a:gd fmla="val 25000" name="adj3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-5976242" y="920742"/>
                <a:ext cx="3936900" cy="3088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</p:grpSp>
        <p:grpSp>
          <p:nvGrpSpPr>
            <p:cNvPr id="105" name="Google Shape;105;p15"/>
            <p:cNvGrpSpPr/>
            <p:nvPr/>
          </p:nvGrpSpPr>
          <p:grpSpPr>
            <a:xfrm>
              <a:off x="-5763800" y="-306475"/>
              <a:ext cx="3952088" cy="5449946"/>
              <a:chOff x="-5661360" y="-826850"/>
              <a:chExt cx="3306910" cy="4560242"/>
            </a:xfrm>
          </p:grpSpPr>
          <p:sp>
            <p:nvSpPr>
              <p:cNvPr id="106" name="Google Shape;106;p15"/>
              <p:cNvSpPr/>
              <p:nvPr/>
            </p:nvSpPr>
            <p:spPr>
              <a:xfrm>
                <a:off x="-5661350" y="-826850"/>
                <a:ext cx="3306900" cy="3306900"/>
              </a:xfrm>
              <a:prstGeom prst="blockArc">
                <a:avLst>
                  <a:gd fmla="val 10800000" name="adj1"/>
                  <a:gd fmla="val 0" name="adj2"/>
                  <a:gd fmla="val 25000" name="adj3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-5661360" y="818892"/>
                <a:ext cx="3306900" cy="29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</p:grpSp>
        <p:grpSp>
          <p:nvGrpSpPr>
            <p:cNvPr id="108" name="Google Shape;108;p15"/>
            <p:cNvGrpSpPr/>
            <p:nvPr/>
          </p:nvGrpSpPr>
          <p:grpSpPr>
            <a:xfrm>
              <a:off x="-5497425" y="-26819"/>
              <a:ext cx="3419340" cy="5170150"/>
              <a:chOff x="-5236257" y="-418550"/>
              <a:chExt cx="2405107" cy="3636597"/>
            </a:xfrm>
          </p:grpSpPr>
          <p:sp>
            <p:nvSpPr>
              <p:cNvPr id="109" name="Google Shape;109;p15"/>
              <p:cNvSpPr/>
              <p:nvPr/>
            </p:nvSpPr>
            <p:spPr>
              <a:xfrm>
                <a:off x="-5236250" y="-418550"/>
                <a:ext cx="2405100" cy="2392800"/>
              </a:xfrm>
              <a:prstGeom prst="blockArc">
                <a:avLst>
                  <a:gd fmla="val 10800000" name="adj1"/>
                  <a:gd fmla="val 0" name="adj2"/>
                  <a:gd fmla="val 25000" name="adj3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-5236257" y="773347"/>
                <a:ext cx="2405100" cy="2444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-4824500" y="44178"/>
                <a:ext cx="1545300" cy="154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alistoga"/>
                  <a:ea typeface="Calistoga"/>
                  <a:cs typeface="Calistoga"/>
                  <a:sym typeface="Calistoga"/>
                </a:endParaRPr>
              </a:p>
            </p:txBody>
          </p:sp>
        </p:grpSp>
      </p:grp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547350" y="773350"/>
            <a:ext cx="2183400" cy="35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0"/>
              <a:buNone/>
              <a:defRPr b="1" sz="1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4445956" y="871800"/>
            <a:ext cx="4135800" cy="33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  <a:defRPr sz="2900">
                <a:solidFill>
                  <a:schemeClr val="dk2"/>
                </a:solidFill>
              </a:defRPr>
            </a:lvl1pPr>
            <a:lvl2pPr indent="-412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○"/>
              <a:defRPr sz="2900">
                <a:solidFill>
                  <a:schemeClr val="dk2"/>
                </a:solidFill>
              </a:defRPr>
            </a:lvl2pPr>
            <a:lvl3pPr indent="-412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■"/>
              <a:defRPr sz="2900">
                <a:solidFill>
                  <a:schemeClr val="dk2"/>
                </a:solidFill>
              </a:defRPr>
            </a:lvl3pPr>
            <a:lvl4pPr indent="-412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  <a:defRPr sz="2900">
                <a:solidFill>
                  <a:schemeClr val="dk2"/>
                </a:solidFill>
              </a:defRPr>
            </a:lvl4pPr>
            <a:lvl5pPr indent="-412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○"/>
              <a:defRPr sz="2900">
                <a:solidFill>
                  <a:schemeClr val="dk2"/>
                </a:solidFill>
              </a:defRPr>
            </a:lvl5pPr>
            <a:lvl6pPr indent="-412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■"/>
              <a:defRPr sz="2900">
                <a:solidFill>
                  <a:schemeClr val="dk2"/>
                </a:solidFill>
              </a:defRPr>
            </a:lvl6pPr>
            <a:lvl7pPr indent="-412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  <a:defRPr sz="2900">
                <a:solidFill>
                  <a:schemeClr val="dk2"/>
                </a:solidFill>
              </a:defRPr>
            </a:lvl7pPr>
            <a:lvl8pPr indent="-412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○"/>
              <a:defRPr sz="2900">
                <a:solidFill>
                  <a:schemeClr val="dk2"/>
                </a:solidFill>
              </a:defRPr>
            </a:lvl8pPr>
            <a:lvl9pPr indent="-412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■"/>
              <a:defRPr sz="29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TITLE_AND_DESCRIPTION_1">
    <p:bg>
      <p:bgPr>
        <a:solidFill>
          <a:schemeClr val="accen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5939125" y="3429001"/>
            <a:ext cx="3204900" cy="17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5939125" y="0"/>
            <a:ext cx="32049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0" y="3429001"/>
            <a:ext cx="32049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0" y="0"/>
            <a:ext cx="3204900" cy="171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203100" y="203100"/>
            <a:ext cx="8737800" cy="473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00050" y="390525"/>
            <a:ext cx="8343900" cy="436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53400" y="893250"/>
            <a:ext cx="7837200" cy="335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9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SECTION_TITLE_AND_DESCRIPTION_1_1"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5939125" y="3429001"/>
            <a:ext cx="32049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5939125" y="0"/>
            <a:ext cx="3204900" cy="171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0" y="3429001"/>
            <a:ext cx="3204900" cy="171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0" y="0"/>
            <a:ext cx="32049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203100" y="203100"/>
            <a:ext cx="8737800" cy="473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MAIN_POINT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1577250" y="2093450"/>
            <a:ext cx="5989500" cy="24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18"/>
          <p:cNvSpPr/>
          <p:nvPr/>
        </p:nvSpPr>
        <p:spPr>
          <a:xfrm>
            <a:off x="203100" y="203100"/>
            <a:ext cx="8737800" cy="118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419550" y="350550"/>
            <a:ext cx="8304900" cy="8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b="1"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b="1"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b="1"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b="1"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b="1"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b="1"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b="1"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b="1" sz="4300"/>
            </a:lvl9pPr>
          </a:lstStyle>
          <a:p/>
        </p:txBody>
      </p:sp>
      <p:grpSp>
        <p:nvGrpSpPr>
          <p:cNvPr id="136" name="Google Shape;136;p18"/>
          <p:cNvGrpSpPr/>
          <p:nvPr/>
        </p:nvGrpSpPr>
        <p:grpSpPr>
          <a:xfrm>
            <a:off x="203100" y="1387328"/>
            <a:ext cx="8737811" cy="485750"/>
            <a:chOff x="203100" y="2053200"/>
            <a:chExt cx="5275500" cy="485750"/>
          </a:xfrm>
        </p:grpSpPr>
        <p:sp>
          <p:nvSpPr>
            <p:cNvPr id="137" name="Google Shape;137;p18"/>
            <p:cNvSpPr/>
            <p:nvPr/>
          </p:nvSpPr>
          <p:spPr>
            <a:xfrm rot="10800000">
              <a:off x="203100" y="2376350"/>
              <a:ext cx="5275500" cy="162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6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 rot="10800000">
              <a:off x="203100" y="2213750"/>
              <a:ext cx="5275500" cy="16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6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 rot="10800000">
              <a:off x="203100" y="2053200"/>
              <a:ext cx="5275500" cy="16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6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4294967295" type="body"/>
          </p:nvPr>
        </p:nvSpPr>
        <p:spPr>
          <a:xfrm>
            <a:off x="796350" y="680850"/>
            <a:ext cx="39555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300">
                <a:solidFill>
                  <a:srgbClr val="F3F3F3"/>
                </a:solidFill>
                <a:latin typeface="Figtree"/>
                <a:ea typeface="Figtree"/>
                <a:cs typeface="Figtree"/>
                <a:sym typeface="Figtree"/>
              </a:rPr>
              <a:t>Site Manager</a:t>
            </a:r>
            <a:endParaRPr b="1" sz="4300">
              <a:solidFill>
                <a:srgbClr val="F3F3F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" name="Google Shape;145;p19"/>
          <p:cNvSpPr txBox="1"/>
          <p:nvPr>
            <p:ph idx="4294967295" type="body"/>
          </p:nvPr>
        </p:nvSpPr>
        <p:spPr>
          <a:xfrm>
            <a:off x="497900" y="4359000"/>
            <a:ext cx="4656300" cy="7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587">
                <a:solidFill>
                  <a:srgbClr val="F3F3F3"/>
                </a:solidFill>
                <a:latin typeface="Figtree"/>
                <a:ea typeface="Figtree"/>
                <a:cs typeface="Figtree"/>
                <a:sym typeface="Figtree"/>
              </a:rPr>
              <a:t>“Right people. Right equipment. Right on time.”</a:t>
            </a:r>
            <a:endParaRPr b="1" sz="1587">
              <a:solidFill>
                <a:srgbClr val="F3F3F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descr="Rear view of surveyor and builder on construction site (Provided by Getty Images)"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4950" y="0"/>
            <a:ext cx="36090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59275" y="138875"/>
            <a:ext cx="5847600" cy="26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0" lang="en" sz="4500">
                <a:solidFill>
                  <a:srgbClr val="000000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POV and EXP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564150" y="2347475"/>
            <a:ext cx="4459800" cy="2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Human Computer Interface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Semester Project Phase 2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Joseph Koop, Kelvin Gordon, Enrique Garcia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pic>
        <p:nvPicPr>
          <p:cNvPr descr="Female Construction Worker (Provided by Getty Images)" id="153" name="Google Shape;1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275" y="-3"/>
            <a:ext cx="3207726" cy="191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perienced engineer explaining the problems in construction works (Provided by Getty Images)" id="154" name="Google Shape;1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6875" y="3044375"/>
            <a:ext cx="3237125" cy="209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idx="4294967295" type="body"/>
          </p:nvPr>
        </p:nvSpPr>
        <p:spPr>
          <a:xfrm>
            <a:off x="2739300" y="284000"/>
            <a:ext cx="36654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Project Domain</a:t>
            </a:r>
            <a:endParaRPr b="1"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1009600" y="1465500"/>
            <a:ext cx="6842100" cy="3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SiteManager is a construction project management app designed for managers and foremen to: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Track employees, equipment, and projects in real time.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Streamline </a:t>
            </a: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resource </a:t>
            </a: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allocation and reduce inefficiencies (e.g., misrouting, manual tracking).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Focus on automation to minimize manual data entry and errors.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idx="4294967295" type="title"/>
          </p:nvPr>
        </p:nvSpPr>
        <p:spPr>
          <a:xfrm>
            <a:off x="3090926" y="324075"/>
            <a:ext cx="2576700" cy="8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Initial POV</a:t>
            </a:r>
            <a:endParaRPr b="1"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1121600" y="1479675"/>
            <a:ext cx="7329900" cy="30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Construction managers need a digital dashboard to track all projects, employees, and equipment in one place because current systems lack real-time visibility and lead to inefficiencies.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This POV was based on our early observations but lacked specific insights into user pain points like maintenance tracking or material lists.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idx="4294967295" type="title"/>
          </p:nvPr>
        </p:nvSpPr>
        <p:spPr>
          <a:xfrm>
            <a:off x="2057400" y="280575"/>
            <a:ext cx="5600100" cy="8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Needfinding Results</a:t>
            </a:r>
            <a:endParaRPr b="1"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174" name="Google Shape;174;p23"/>
          <p:cNvSpPr txBox="1"/>
          <p:nvPr/>
        </p:nvSpPr>
        <p:spPr>
          <a:xfrm>
            <a:off x="407400" y="1088200"/>
            <a:ext cx="8693100" cy="3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Misrouting is common: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Employees and equipment are frequently sent to the wrong locations.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Quote: “Misplacement happens all the time.” — Gideon Banman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Manual tracking is inefficient: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Paper-based systems for materials and delays are error-prone and time-consuming.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Maintenance records (e.g., oil changes) are not centrally tracked.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idx="4294967295" type="title"/>
          </p:nvPr>
        </p:nvSpPr>
        <p:spPr>
          <a:xfrm>
            <a:off x="1489125" y="324075"/>
            <a:ext cx="6810000" cy="8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Additional Needfinding Results</a:t>
            </a:r>
            <a:endParaRPr b="1"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687250" y="1524300"/>
            <a:ext cx="7851300" cy="30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Live tracking is less critical:</a:t>
            </a: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 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Users prioritized simplicity and automation over real-time GPS tracking.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Drones and equipment condition tracking emerged as unexpected interests.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idx="4294967295" type="title"/>
          </p:nvPr>
        </p:nvSpPr>
        <p:spPr>
          <a:xfrm>
            <a:off x="3033750" y="2070750"/>
            <a:ext cx="3076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Revised POVs</a:t>
            </a:r>
            <a:endParaRPr b="1"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idx="4294967295" type="title"/>
          </p:nvPr>
        </p:nvSpPr>
        <p:spPr>
          <a:xfrm>
            <a:off x="3568900" y="400200"/>
            <a:ext cx="2272800" cy="8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POV #1</a:t>
            </a:r>
            <a:endParaRPr b="1"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513875" y="1643925"/>
            <a:ext cx="82638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A construction foreman needs a visual map of project locations and resource allocation because employees and equipment are frequently sent to the wrong sites, causing delays and inefficiencies.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4294967295" type="title"/>
          </p:nvPr>
        </p:nvSpPr>
        <p:spPr>
          <a:xfrm>
            <a:off x="3568900" y="400200"/>
            <a:ext cx="2272800" cy="8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POV #2</a:t>
            </a:r>
            <a:endParaRPr b="1"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826425" y="1622200"/>
            <a:ext cx="77556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An equipment operator needs a system to track maintenance records and material lists per project because manual tracking is error-prone and leads to miscommunication about equipment condition and project needs.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idx="4294967295" type="title"/>
          </p:nvPr>
        </p:nvSpPr>
        <p:spPr>
          <a:xfrm>
            <a:off x="3568900" y="400200"/>
            <a:ext cx="2272800" cy="8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POV #3</a:t>
            </a:r>
            <a:endParaRPr b="1"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829225" y="1622175"/>
            <a:ext cx="7597200" cy="23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A construction manager needs a simplified way to log daily work results and delays because current paper-based systems are inefficient and don’t provide real-time insights into project progress.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2339375" y="2131350"/>
            <a:ext cx="43680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HWM STATEMENTS</a:t>
            </a:r>
            <a:endParaRPr b="1" sz="35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926475" y="356700"/>
            <a:ext cx="6709200" cy="10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HWM #1</a:t>
            </a:r>
            <a:endParaRPr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691650" y="1631450"/>
            <a:ext cx="7558800" cy="1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“How might we create a visual map interface that helps foremen and managers allocate employees and equipment to the correct project sites?”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926475" y="356700"/>
            <a:ext cx="6709200" cy="10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HWM #2</a:t>
            </a:r>
            <a:endParaRPr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648150" y="1629150"/>
            <a:ext cx="7558800" cy="18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“How might we design a maintenance tracking system that reduces manual data entry and ensures equipment is always in optimal conditions?”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926475" y="356700"/>
            <a:ext cx="6709200" cy="10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HWM #3</a:t>
            </a:r>
            <a:endParaRPr sz="35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35" name="Google Shape;235;p32"/>
          <p:cNvSpPr txBox="1"/>
          <p:nvPr/>
        </p:nvSpPr>
        <p:spPr>
          <a:xfrm>
            <a:off x="615525" y="1620575"/>
            <a:ext cx="7558800" cy="17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“How might we streamline the process of logging daily work results and delays to provide real-time project insights for managers?”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41" name="Google Shape;241;p33"/>
          <p:cNvSpPr txBox="1"/>
          <p:nvPr/>
        </p:nvSpPr>
        <p:spPr>
          <a:xfrm>
            <a:off x="1482750" y="2131350"/>
            <a:ext cx="61785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EXPERIENCE </a:t>
            </a: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PROTOTYPES</a:t>
            </a:r>
            <a:endParaRPr b="1" sz="3500"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47" name="Google Shape;247;p34"/>
          <p:cNvSpPr txBox="1"/>
          <p:nvPr/>
        </p:nvSpPr>
        <p:spPr>
          <a:xfrm>
            <a:off x="705600" y="269700"/>
            <a:ext cx="843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Prototype #1: Maintenance Tracking</a:t>
            </a:r>
            <a:endParaRPr b="1" sz="350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48" name="Google Shape;2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38" y="1149600"/>
            <a:ext cx="8207526" cy="3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54" name="Google Shape;254;p35"/>
          <p:cNvSpPr txBox="1"/>
          <p:nvPr/>
        </p:nvSpPr>
        <p:spPr>
          <a:xfrm>
            <a:off x="705600" y="269700"/>
            <a:ext cx="843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Prototype #1: Maintenance Tracking</a:t>
            </a:r>
            <a:endParaRPr b="1" sz="3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448925" y="950400"/>
            <a:ext cx="8502600" cy="3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worked: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Severity scale helped prioritize repairs.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didn’t work: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Manual entry was still seen as tedious; users wanted automated reminders.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Validity of Assumption: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Partially valid: Simplified logs help, but automation is key.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61" name="Google Shape;261;p36"/>
          <p:cNvSpPr txBox="1"/>
          <p:nvPr/>
        </p:nvSpPr>
        <p:spPr>
          <a:xfrm>
            <a:off x="662100" y="258825"/>
            <a:ext cx="843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Prototype #2: Daily Work Logging</a:t>
            </a:r>
            <a:endParaRPr b="1" sz="350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62" name="Google Shape;2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500" y="961500"/>
            <a:ext cx="3808000" cy="37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68" name="Google Shape;268;p37"/>
          <p:cNvSpPr txBox="1"/>
          <p:nvPr/>
        </p:nvSpPr>
        <p:spPr>
          <a:xfrm>
            <a:off x="705600" y="269700"/>
            <a:ext cx="843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Prototype #2: </a:t>
            </a: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Daily Work Logging</a:t>
            </a:r>
            <a:endParaRPr b="1" sz="3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69" name="Google Shape;269;p37"/>
          <p:cNvSpPr txBox="1"/>
          <p:nvPr/>
        </p:nvSpPr>
        <p:spPr>
          <a:xfrm>
            <a:off x="448925" y="950400"/>
            <a:ext cx="8502600" cy="3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worked: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Standardized delay reasons reduced ambiguity in reporting</a:t>
            </a: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.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didn’t work: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Cards were easily lost; users preferred a digital form.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V</a:t>
            </a: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alidity of Assumption: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Valid: Structured logging is helpful, but digital is preferred.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75" name="Google Shape;275;p38"/>
          <p:cNvSpPr txBox="1"/>
          <p:nvPr/>
        </p:nvSpPr>
        <p:spPr>
          <a:xfrm>
            <a:off x="705600" y="269700"/>
            <a:ext cx="843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Prototype #3: Visual Map Interface</a:t>
            </a:r>
            <a:endParaRPr b="1" sz="3500"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76" name="Google Shape;27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375" y="994125"/>
            <a:ext cx="7340074" cy="365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82" name="Google Shape;282;p39"/>
          <p:cNvSpPr txBox="1"/>
          <p:nvPr/>
        </p:nvSpPr>
        <p:spPr>
          <a:xfrm>
            <a:off x="705600" y="269700"/>
            <a:ext cx="843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Prototype #3: </a:t>
            </a:r>
            <a:r>
              <a:rPr b="1" lang="en" sz="3500">
                <a:latin typeface="Figtree"/>
                <a:ea typeface="Figtree"/>
                <a:cs typeface="Figtree"/>
                <a:sym typeface="Figtree"/>
              </a:rPr>
              <a:t>Visual Map Interface</a:t>
            </a:r>
            <a:endParaRPr b="1" sz="3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3" name="Google Shape;283;p39"/>
          <p:cNvSpPr txBox="1"/>
          <p:nvPr/>
        </p:nvSpPr>
        <p:spPr>
          <a:xfrm>
            <a:off x="418552" y="983025"/>
            <a:ext cx="8502600" cy="3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worked: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Users liked the visual clarity of seeing all projects in one place.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What didn’t work: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Static maps lack real-time updates (users wanted digital integration).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Figtree"/>
                <a:ea typeface="Figtree"/>
                <a:cs typeface="Figtree"/>
                <a:sym typeface="Figtree"/>
              </a:rPr>
              <a:t>Validity of Assumption:</a:t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latin typeface="Figtree"/>
                <a:ea typeface="Figtree"/>
                <a:cs typeface="Figtree"/>
                <a:sym typeface="Figtree"/>
              </a:rPr>
              <a:t>Valid: Visual maps are useful, but they need interactive features.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/>
          <p:nvPr>
            <p:ph type="title"/>
          </p:nvPr>
        </p:nvSpPr>
        <p:spPr>
          <a:xfrm>
            <a:off x="2824200" y="152225"/>
            <a:ext cx="2781000" cy="10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Summary</a:t>
            </a:r>
            <a:endParaRPr sz="43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9" name="Google Shape;289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  <p:sp>
        <p:nvSpPr>
          <p:cNvPr id="290" name="Google Shape;290;p40"/>
          <p:cNvSpPr txBox="1"/>
          <p:nvPr/>
        </p:nvSpPr>
        <p:spPr>
          <a:xfrm>
            <a:off x="517700" y="818575"/>
            <a:ext cx="7558800" cy="4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Key Learnings:</a:t>
            </a:r>
            <a:endParaRPr b="1"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Automation &gt; manual entry: Users reject systems that require excessive manual input.</a:t>
            </a:r>
            <a:endParaRPr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Unexpected needs: Equipment condition and material tracking are as important as project progress.</a:t>
            </a:r>
            <a:endParaRPr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Next Steps:</a:t>
            </a:r>
            <a:endParaRPr b="1"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gtree"/>
              <a:buChar char="★"/>
            </a:pPr>
            <a:r>
              <a:rPr lang="en" sz="2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Interactive map with real-time updates.</a:t>
            </a:r>
            <a:endParaRPr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Figtree"/>
              <a:buChar char="★"/>
            </a:pPr>
            <a:r>
              <a:rPr lang="en" sz="20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Maintenance alerts and delay reporting.</a:t>
            </a:r>
            <a:endParaRPr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41"/>
          <p:cNvGrpSpPr/>
          <p:nvPr/>
        </p:nvGrpSpPr>
        <p:grpSpPr>
          <a:xfrm rot="5400000">
            <a:off x="1293375" y="449195"/>
            <a:ext cx="485750" cy="2361900"/>
            <a:chOff x="2828100" y="203300"/>
            <a:chExt cx="485750" cy="2361900"/>
          </a:xfrm>
        </p:grpSpPr>
        <p:sp>
          <p:nvSpPr>
            <p:cNvPr id="296" name="Google Shape;296;p41"/>
            <p:cNvSpPr/>
            <p:nvPr/>
          </p:nvSpPr>
          <p:spPr>
            <a:xfrm rot="-5400000">
              <a:off x="1728450" y="1302950"/>
              <a:ext cx="2361900" cy="16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6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endParaRPr>
            </a:p>
          </p:txBody>
        </p:sp>
        <p:sp>
          <p:nvSpPr>
            <p:cNvPr id="297" name="Google Shape;297;p41"/>
            <p:cNvSpPr/>
            <p:nvPr/>
          </p:nvSpPr>
          <p:spPr>
            <a:xfrm rot="-5400000">
              <a:off x="1891050" y="1302950"/>
              <a:ext cx="2361900" cy="162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6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endParaRPr>
            </a:p>
          </p:txBody>
        </p:sp>
        <p:sp>
          <p:nvSpPr>
            <p:cNvPr id="298" name="Google Shape;298;p41"/>
            <p:cNvSpPr/>
            <p:nvPr/>
          </p:nvSpPr>
          <p:spPr>
            <a:xfrm rot="-5400000">
              <a:off x="2051600" y="1302950"/>
              <a:ext cx="2361900" cy="162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96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endParaRPr>
            </a:p>
          </p:txBody>
        </p:sp>
      </p:grpSp>
      <p:sp>
        <p:nvSpPr>
          <p:cNvPr id="299" name="Google Shape;299;p41"/>
          <p:cNvSpPr txBox="1"/>
          <p:nvPr>
            <p:ph idx="1" type="subTitle"/>
          </p:nvPr>
        </p:nvSpPr>
        <p:spPr>
          <a:xfrm>
            <a:off x="1577250" y="1743038"/>
            <a:ext cx="5989500" cy="24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72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Thank You</a:t>
            </a:r>
            <a:endParaRPr b="1" sz="72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0" name="Google Shape;300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